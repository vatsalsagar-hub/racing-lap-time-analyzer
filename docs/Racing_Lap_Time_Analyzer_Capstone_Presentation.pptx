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8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0"/>
            <a:ext cx="73152" cy="6858000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1371600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59952" y="1371600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4" y="1371600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719072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9952" y="1719072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07424" y="1719072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2066543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2066543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07424" y="2066543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414016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9952" y="2414016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07424" y="2414016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761488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59952" y="2761488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2761488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3108960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59952" y="3108960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3108960"/>
            <a:ext cx="292608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371600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RACING LAP TIME ANALYZER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423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00"/>
                </a:solidFill>
                <a:latin typeface="Calibri"/>
              </a:rPr>
              <a:t>CIS126 Capstone Project  —  Option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260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  <a:latin typeface="Calibri"/>
              </a:rPr>
              <a:t>MIPS Assembly Application Program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5029200" cy="36576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Vatsal Sagar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CIS126 — Computer Architecture &amp; Organization   |   Spring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Montgomery County Community College   |   Prof. K. Mousley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CC00"/>
                </a:solidFill>
                <a:latin typeface="Calibri"/>
              </a:rPr>
              <a:t>Option 5 — MIPS Application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Calibri"/>
              </a:rPr>
              <a:t>What the Program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Stores lap times for 4 F1 drivers × 5 laps in a 2D MIPS array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Calculates total race time and average lap time per driver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Finds the single fastest and slowest lap across the whole grid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Ranks all drivers by total time using selection sort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Prints a fully formatted race report to the MARS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669280" cy="32004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2A"/>
                </a:solidFill>
                <a:latin typeface="Calibri"/>
              </a:rPr>
              <a:t>Course Concepts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Row-major 2D array  →  Week 10 cache concepts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11 procedures with full MIPS calling convention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$sp/$ra stack management on every procedure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Selection sort  →  loop, compare, swap pattern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B0B8D0"/>
                </a:solidFill>
                <a:latin typeface="Calibri"/>
              </a:rPr>
              <a:t>•  MARS syscalls: print_int, print_str, exit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6634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77316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00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2180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MIPS Procedures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6634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77316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00"/>
                </a:solidFill>
                <a:latin typeface="Calibri"/>
              </a:rPr>
              <a:t>350+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32180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Lines of Assembly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6634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77316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0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2180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Data Structures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6634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77316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00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2180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MARS Compatible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— DATA SEGMENT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Two distinct data structures in .data  —  required by Option 5 spec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Calibri"/>
              </a:rPr>
              <a:t>Data Structure 1 — Name Pointer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0292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nameAddrs[ ] — array of 4 word-sized pointers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Each pointer addresses a null-terminated name string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Access: la $t0, nameAddrs  /  lw $a0, offset($t0)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Demonstrates pointer arithmetic in MIPS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51560"/>
            <a:ext cx="5760720" cy="22860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2A"/>
                </a:solidFill>
                <a:latin typeface="Calibri"/>
              </a:rPr>
              <a:t>Data Structure 2 — 2D Lap-Time Array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39"/>
            <a:ext cx="539495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lapTimes[ ] — 20 words, row-major layout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lapTimes[driver][lap]  stored as 4 × 5 = 20 consecutive words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Address formula:  base + (driver×5 + lap) × 4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Cache-friendly: sequential traversal per driver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301752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00"/>
                </a:solidFill>
                <a:latin typeface="Calibri"/>
              </a:rPr>
              <a:t>.data Memory Layout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737360" cy="640080"/>
          </a:xfrm>
          <a:prstGeom prst="rect">
            <a:avLst/>
          </a:prstGeom>
          <a:solidFill>
            <a:srgbClr val="1A2A4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A7"/>
                </a:solidFill>
                <a:latin typeface="Calibri"/>
              </a:rPr>
              <a:t>name0
"Hamilton"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1737360" cy="640080"/>
          </a:xfrm>
          <a:prstGeom prst="rect">
            <a:avLst/>
          </a:prstGeom>
          <a:solidFill>
            <a:srgbClr val="1A2A4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39502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A7"/>
                </a:solidFill>
                <a:latin typeface="Calibri"/>
              </a:rPr>
              <a:t>name1
"Verstappen"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931920"/>
            <a:ext cx="1737360" cy="640080"/>
          </a:xfrm>
          <a:prstGeom prst="rect">
            <a:avLst/>
          </a:prstGeom>
          <a:solidFill>
            <a:srgbClr val="1A2A4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502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A7"/>
                </a:solidFill>
                <a:latin typeface="Calibri"/>
              </a:rPr>
              <a:t>name2
"Leclerc"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1737360" cy="640080"/>
          </a:xfrm>
          <a:prstGeom prst="rect">
            <a:avLst/>
          </a:prstGeom>
          <a:solidFill>
            <a:srgbClr val="1A2A4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502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9A7"/>
                </a:solidFill>
                <a:latin typeface="Calibri"/>
              </a:rPr>
              <a:t>name3
"Norris"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nameAddrs[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9A7"/>
                </a:solidFill>
                <a:latin typeface="Calibri"/>
              </a:rPr>
              <a:t>845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9A7"/>
                </a:solidFill>
                <a:latin typeface="Calibri"/>
              </a:rPr>
              <a:t>832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362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9A7"/>
                </a:solidFill>
                <a:latin typeface="Calibri"/>
              </a:rPr>
              <a:t>829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66543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9A7"/>
                </a:solidFill>
                <a:latin typeface="Calibri"/>
              </a:rPr>
              <a:t>841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9A7"/>
                </a:solidFill>
                <a:latin typeface="Calibri"/>
              </a:rPr>
              <a:t>836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A7"/>
                </a:solidFill>
                <a:latin typeface="Calibri"/>
              </a:rPr>
              <a:t>Ham.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F2A"/>
                </a:solidFill>
                <a:latin typeface="Calibri"/>
              </a:rPr>
              <a:t>851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534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F2A"/>
                </a:solidFill>
                <a:latin typeface="Calibri"/>
              </a:rPr>
              <a:t>848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F2A"/>
                </a:solidFill>
                <a:latin typeface="Calibri"/>
              </a:rPr>
              <a:t>844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118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F2A"/>
                </a:solidFill>
                <a:latin typeface="Calibri"/>
              </a:rPr>
              <a:t>853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410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7F2A"/>
                </a:solidFill>
                <a:latin typeface="Calibri"/>
              </a:rPr>
              <a:t>847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F2A"/>
                </a:solidFill>
                <a:latin typeface="Calibri"/>
              </a:rPr>
              <a:t>Ver.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706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55FF"/>
                </a:solidFill>
                <a:latin typeface="Calibri"/>
              </a:rPr>
              <a:t>838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9983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55FF"/>
                </a:solidFill>
                <a:latin typeface="Calibri"/>
              </a:rPr>
              <a:t>843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55FF"/>
                </a:solidFill>
                <a:latin typeface="Calibri"/>
              </a:rPr>
              <a:t>835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79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35823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55FF"/>
                </a:solidFill>
                <a:latin typeface="Calibri"/>
              </a:rPr>
              <a:t>840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55FF"/>
                </a:solidFill>
                <a:latin typeface="Calibri"/>
              </a:rPr>
              <a:t>831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55FF"/>
                </a:solidFill>
                <a:latin typeface="Calibri"/>
              </a:rPr>
              <a:t>Lec.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6170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00"/>
                </a:solidFill>
                <a:latin typeface="Calibri"/>
              </a:rPr>
              <a:t>856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6462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00"/>
                </a:solidFill>
                <a:latin typeface="Calibri"/>
              </a:rPr>
              <a:t>849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6754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00"/>
                </a:solidFill>
                <a:latin typeface="Calibri"/>
              </a:rPr>
              <a:t>852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6132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7046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00"/>
                </a:solidFill>
                <a:latin typeface="Calibri"/>
              </a:rPr>
              <a:t>858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64240" y="5029200"/>
            <a:ext cx="457200" cy="5029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73384" y="50566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00"/>
                </a:solidFill>
                <a:latin typeface="Calibri"/>
              </a:rPr>
              <a:t>845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C00"/>
                </a:solidFill>
                <a:latin typeface="Calibri"/>
              </a:rPr>
              <a:t>Nor.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lapTimes[ ][ ]  (row-major, tenths of seconds)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— PROCEDURE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11 procedures — all follow full MIPS calling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2651760" cy="594360"/>
          </a:xfrm>
          <a:prstGeom prst="roundRect">
            <a:avLst>
              <a:gd name="adj" fmla="val 5000"/>
            </a:avLst>
          </a:prstGeom>
          <a:solidFill>
            <a:srgbClr val="280505"/>
          </a:solidFill>
          <a:ln w="1905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1704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A7"/>
                </a:solidFill>
                <a:latin typeface="Calibri"/>
              </a:rPr>
              <a:t>computeTotals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A7"/>
                </a:solidFill>
                <a:latin typeface="Calibri"/>
              </a:rPr>
              <a:t>computeAverages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19456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F2A"/>
                </a:solidFill>
                <a:latin typeface="Calibri"/>
              </a:rPr>
              <a:t>findFastestLap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19456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F2A"/>
                </a:solidFill>
                <a:latin typeface="Calibri"/>
              </a:rPr>
              <a:t>findSlowestLap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42900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5021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  <a:latin typeface="Calibri"/>
              </a:rPr>
              <a:t>sortDrivers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42900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5021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55FF"/>
                </a:solidFill>
                <a:latin typeface="Calibri"/>
              </a:rPr>
              <a:t>printReport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429000"/>
            <a:ext cx="2377440" cy="5486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5021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55FF"/>
                </a:solidFill>
                <a:latin typeface="Calibri"/>
              </a:rPr>
              <a:t>printHighlights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89204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 w="19050">
            <a:solidFill>
              <a:srgbClr val="B0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  <a:latin typeface="Calibri"/>
              </a:rPr>
              <a:t>printTime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89204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 w="19050">
            <a:solidFill>
              <a:srgbClr val="B0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  <a:latin typeface="Calibri"/>
              </a:rPr>
              <a:t>printLaps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892040"/>
            <a:ext cx="2377440" cy="50292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 w="19050">
            <a:solidFill>
              <a:srgbClr val="B0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9560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  <a:latin typeface="Calibri"/>
              </a:rPr>
              <a:t>printTimeInline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590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526E"/>
                </a:solidFill>
                <a:latin typeface="Calibri"/>
              </a:rPr>
              <a:t>(helpers called by printReport &amp; printHighlights)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612880" cy="82296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Computation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576072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5760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576072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5760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Sorting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576072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5760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5760720"/>
            <a:ext cx="228600" cy="228600"/>
          </a:xfrm>
          <a:prstGeom prst="roundRect">
            <a:avLst>
              <a:gd name="adj" fmla="val 5000"/>
            </a:avLst>
          </a:prstGeom>
          <a:solidFill>
            <a:srgbClr val="B0B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60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/>
              </a:rPr>
              <a:t>Helpers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— CALLING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sortDrivers — the most complex stack frame in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217920" cy="50292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943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A526E"/>
                </a:solidFill>
                <a:latin typeface="Consolas"/>
              </a:rPr>
              <a:t># ── Prologue (push callee-saved registers) ──</a:t>
            </a:r>
          </a:p>
          <a:p>
            <a:r>
              <a:rPr sz="1100">
                <a:solidFill>
                  <a:srgbClr val="FFCC00"/>
                </a:solidFill>
                <a:latin typeface="Consolas"/>
              </a:rPr>
              <a:t>sortDrivers: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$sp, $sp, -16     # reserve 4 words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 $ra, 12($sp)      # return address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 $s2,  8($sp)      # min_pos tracker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 $s1,  4($sp)      # inner loop  j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 $s0,  0($sp)      # outer loop  i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4A526E"/>
                </a:solidFill>
                <a:latin typeface="Consolas"/>
              </a:rPr>
              <a:t>    # ... (selection sort body) ...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4A526E"/>
                </a:solidFill>
                <a:latin typeface="Consolas"/>
              </a:rPr>
              <a:t># ── Epilogue (pop in reverse order) ──</a:t>
            </a:r>
          </a:p>
          <a:p>
            <a:r>
              <a:rPr sz="1100">
                <a:solidFill>
                  <a:srgbClr val="FFCC00"/>
                </a:solidFill>
                <a:latin typeface="Consolas"/>
              </a:rPr>
              <a:t>sd_done: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 $s0,  0($sp)      # restore  i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 $s1,  4($sp)      # restore  j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 $s2,  8($sp)      # restore  min_pos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 $ra, 12($sp)      # restore  return addr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$sp, $sp, 16      # pop frame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jr   $ra               # return to 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051560"/>
            <a:ext cx="5029200" cy="50292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00"/>
                </a:solidFill>
                <a:latin typeface="Calibri"/>
              </a:rPr>
              <a:t>Stack Frame (16 bytes)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9164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465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26E"/>
                </a:solidFill>
                <a:latin typeface="Calibri"/>
              </a:rPr>
              <a:t>$sp + 12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46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3030"/>
                </a:solidFill>
                <a:latin typeface="Calibri"/>
              </a:rPr>
              <a:t>$ra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20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return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496312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5511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26E"/>
                </a:solidFill>
                <a:latin typeface="Calibri"/>
              </a:rPr>
              <a:t>$sp + 8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51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2A"/>
                </a:solidFill>
                <a:latin typeface="Calibri"/>
              </a:rPr>
              <a:t>$s2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25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min_pos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300984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355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26E"/>
                </a:solidFill>
                <a:latin typeface="Calibri"/>
              </a:rPr>
              <a:t>$sp + 4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55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Calibri"/>
              </a:rPr>
              <a:t>$s1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30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inner  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05656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26E"/>
                </a:solidFill>
                <a:latin typeface="Calibri"/>
              </a:rPr>
              <a:t>$sp + 0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Calibri"/>
              </a:rPr>
              <a:t>$s0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/>
              </a:rPr>
              <a:t>outer 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26E"/>
                </a:solidFill>
                <a:latin typeface="Calibri"/>
              </a:rPr>
              <a:t>← $sp points here after addi $sp,$sp,-16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—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Open MARS 4.5 and follow these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640080" cy="685800"/>
          </a:xfrm>
          <a:prstGeom prst="roundRect">
            <a:avLst>
              <a:gd name="adj" fmla="val 5000"/>
            </a:avLst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143000"/>
            <a:ext cx="10789920" cy="6858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197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Open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19786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File → Open → select  racing_analyzer.asm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48840"/>
            <a:ext cx="640080" cy="685800"/>
          </a:xfrm>
          <a:prstGeom prst="roundRect">
            <a:avLst>
              <a:gd name="adj" fmla="val 5000"/>
            </a:avLst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148840"/>
            <a:ext cx="10789920" cy="6858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203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Assemble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037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Click the wrench icon  (or press F3)  — should show 0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54680"/>
            <a:ext cx="640080" cy="685800"/>
          </a:xfrm>
          <a:prstGeom prst="roundRect">
            <a:avLst>
              <a:gd name="adj" fmla="val 5000"/>
            </a:avLst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154680"/>
            <a:ext cx="10789920" cy="6858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209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95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Click the green play button  (or press F5)  to execute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60520"/>
            <a:ext cx="640080" cy="685800"/>
          </a:xfrm>
          <a:prstGeom prst="roundRect">
            <a:avLst>
              <a:gd name="adj" fmla="val 5000"/>
            </a:avLst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160520"/>
            <a:ext cx="10789920" cy="6858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2153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1538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View output in the bottom  Mars Messages / Run I/O  panel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166360"/>
            <a:ext cx="640080" cy="685800"/>
          </a:xfrm>
          <a:prstGeom prst="roundRect">
            <a:avLst>
              <a:gd name="adj" fmla="val 5000"/>
            </a:avLst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578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166360"/>
            <a:ext cx="10789920" cy="6858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221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Calibri"/>
              </a:rPr>
              <a:t>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22122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/>
              </a:rPr>
              <a:t>To re-run: Run → Reset  (F12),  then Run → Go  (F5) again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150808"/>
          </a:solidFill>
          <a:ln w="19050">
            <a:solidFill>
              <a:srgbClr val="E8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904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00"/>
                </a:solidFill>
                <a:latin typeface="Calibri"/>
              </a:rPr>
              <a:t>  TIP: If MARS shows 'SYSCALL 10' at end — the program terminated cleanly. That is correct behaviour.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—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This is exactly what appears in the MARS Run I/O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0B8D0"/>
                </a:solidFill>
                <a:latin typeface="Consolas"/>
              </a:rPr>
              <a:t>========================================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    RACING LAP TIME ANALYZER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 CIS126 Capstone - Vatsal Sagar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========================================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----------------------------------------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Rank 1: Hamilton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Total : 418.3 sec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Avg   : 83.6 sec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Laps  : 84.5  83.2  82.9  84.1  83.6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Rank 2: Leclerc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Total : 418.7 sec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Avg   : 83.7 sec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   Laps  : 83.8  84.3  83.5  84.0  83.1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Rank 3: Verstappen  ...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Rank 4: Norris      ...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----------------------------------------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FASTEST LAP:  82.9 by Hamilton (Lap 3)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SLOWEST LAP:  85.8 by Norris   (Lap 4)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----------------------------------------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===== Analysis Complete =====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— KEY CODE: computeTotals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Nested loop over the 2D array — the core algorithmic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CC00"/>
                </a:solidFill>
                <a:latin typeface="Consolas"/>
              </a:rPr>
              <a:t>computeTotals: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$sp, $sp, -12  /  sw $ra,8($sp)  /  sw $s0,4($sp)  /  sw $s1,0($sp)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li   $s0, 0                     # driver index = 0</a:t>
            </a:r>
          </a:p>
          <a:p>
            <a:r>
              <a:rPr sz="1100">
                <a:solidFill>
                  <a:srgbClr val="FFCC00"/>
                </a:solidFill>
                <a:latin typeface="Consolas"/>
              </a:rPr>
              <a:t>ct_outer: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li   $t0, 4          bge $s0,$t0,ct_done   # while driver &lt; 4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li   $s1, 0          li  $t1, 0             # reset lap idx &amp; total</a:t>
            </a:r>
          </a:p>
          <a:p>
            <a:r>
              <a:rPr sz="1100">
                <a:solidFill>
                  <a:srgbClr val="FFCC00"/>
                </a:solidFill>
                <a:latin typeface="Consolas"/>
              </a:rPr>
              <a:t>ct_inner: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li   $t0, 5          bge $s1,$t0,ct_store  # while lap &lt; 5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li   $t2, 5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mul  $t3, $s0, $t2               # t3 = driver * 5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  $t3, $t3, $s1               # t3 = driver*5 + lap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sll  $t3, $t3, 2                 # t3 = byte offset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la   $t4, lapTimes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  $t4, $t4, $t3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 $t4, 0($t4)                 # load lapTimes[driver][lap]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  $t1, $t1, $t4               # accumulate total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$s1, $s1, 1     j ct_inner</a:t>
            </a:r>
          </a:p>
          <a:p>
            <a:r>
              <a:rPr sz="1100">
                <a:solidFill>
                  <a:srgbClr val="FFCC00"/>
                </a:solidFill>
                <a:latin typeface="Consolas"/>
              </a:rPr>
              <a:t>ct_store: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la $t2,totalTimes  sll $t3,$s0,2  add $t2,$t2,$t3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$t1, 0($t2)                    # totalTimes[driver] = sum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$s0,$s0,1      j ct_outer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— KEY CODE: sortDrivers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Selection sort on the rankOrder[ ] index array — no data is moved, only indices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A526E"/>
                </a:solidFill>
                <a:latin typeface="Consolas"/>
              </a:rPr>
              <a:t># rankOrder[] starts as {0,1,2,3}. We sort the indices by totalTimes value.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sd_outer:                            # i = 0..2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move $s2, $s0                    # min_pos = i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addi $s1, $s0, 1                 # j = i + 1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sd_inner:                            # j = i+1..3</a:t>
            </a:r>
          </a:p>
          <a:p>
            <a:r>
              <a:rPr sz="1100">
                <a:solidFill>
                  <a:srgbClr val="4A526E"/>
                </a:solidFill>
                <a:latin typeface="Consolas"/>
              </a:rPr>
              <a:t>    # load totalTimes[rankOrder[j]]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la $t1,rankOrder  sll $t2,$s1,2  add $t1,$t1,$t2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$t3, 0($t1)                   # t3 = rankOrder[j]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la $t4,totalTimes sll $t5,$t3,2  add $t4,$t4,$t5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$t6, 0($t4)                   # t6 = totalTimes[rankOrder[j]]</a:t>
            </a:r>
          </a:p>
          <a:p>
            <a:r>
              <a:rPr sz="1100">
                <a:solidFill>
                  <a:srgbClr val="4A526E"/>
                </a:solidFill>
                <a:latin typeface="Consolas"/>
              </a:rPr>
              <a:t>    # compare with totalTimes[rankOrder[min_pos]]  ...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bge $t6, $t7, sd_no_upd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move $s2, $s1                    # new minimum found</a:t>
            </a:r>
          </a:p>
          <a:p>
            <a:r>
              <a:rPr sz="1100">
                <a:solidFill>
                  <a:srgbClr val="B0B8D0"/>
                </a:solidFill>
                <a:latin typeface="Consolas"/>
              </a:rPr>
              <a:t>sd_swap:                             # swap rankOrder[i] &lt;-&gt; rankOrder[min_pos]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$t2, 0($t1)                  # save rankOrder[i]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lw  $t4, 0($t3)                  # save rankOrder[min_pos]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$t4, 0($t1)                  # rankOrder[i]       = old min</a:t>
            </a:r>
          </a:p>
          <a:p>
            <a:r>
              <a:rPr sz="1100">
                <a:solidFill>
                  <a:srgbClr val="00C9A7"/>
                </a:solidFill>
                <a:latin typeface="Consolas"/>
              </a:rPr>
              <a:t>    sw  $t2, 0($t3)                  # rankOrder[min_pos] = old 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&amp; ANALYSIS — INSTRUCTION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Measured with MARS Tools → Instruction Counter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  <a:gridCol w="4023360"/>
                <a:gridCol w="210312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Procedure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Instructions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Stack ops (sw/lw)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% Overhead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computeTotals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~68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6  (save $s0,$s1,$ra)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computeAverages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~28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4  (save $s0,$ra)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findFastestLap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~82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6  (save $s0,$s1,$ra)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findSlowestLap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~82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6  (save $s0,$s1,$ra)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sortDrivers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~115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8  (save 4 regs)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printReport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~160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6  (save $s0,$s1,$ra)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9A7"/>
                          </a:solidFill>
                          <a:latin typeface="Calibri"/>
                        </a:rPr>
                        <a:t>printTime (×8)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~8 each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2  (save $ra only)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0B8D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&amp; ANALYSIS — CACHE &amp; SIMD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Connecting the implementation to Week 10 and Week 13 course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30175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Calibri"/>
              </a:rPr>
              <a:t>Cache Behaviour (Week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lapTimes[d][lap] stored in row-major order — driver rows are contiguous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computeTotals inner loop: lw offset increases by +4 bytes each iteration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Sequential access pattern = excellent spatial locality → cache-friendly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Contrast: if layout were column-major, stride = 5×4 = 20 bytes → cache misses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5760720" cy="30175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2A"/>
                </a:solidFill>
                <a:latin typeface="Calibri"/>
              </a:rPr>
              <a:t>SIMD Potential (Week 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5394959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Innermost loop body: load, add — fits the REDUCE pattern (Week 13)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Each iteration: 1 load + 1 add applied to all 5 lap values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SIMD version could process 4 lap times per instruction with 128-bit regs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Would require all 4 drivers' same-lap slots to be contiguous (interleaved layout)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11430000" cy="224028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C00"/>
                </a:solidFill>
                <a:latin typeface="Calibri"/>
              </a:rPr>
              <a:t>Amdahl's Law — 4-Core Parallelisation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Serial section: print output, sort (must be sequential) — ~35% of total work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Parallel section: computeTotals / Averages / findFastest / findSlowest — independent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Parallel fraction  p = 0.65,  Serial fraction  s = 0.35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Amdahl's Law  (4 cores):  S = 1 / (0.35 + 0.65/4) = 1 / 0.5125  ≈  1.95×  speedup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RACE ANALYSIS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  <a:latin typeface="Calibri"/>
              </a:rPr>
              <a:t>All computed values verified by hand against the .data lap-time constants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9A7"/>
                </a:solidFill>
                <a:latin typeface="Calibri"/>
              </a:rPr>
              <a:t>82.9s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Fastest Lap
Hamilton — Lap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984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3030"/>
                </a:solidFill>
                <a:latin typeface="Calibri"/>
              </a:rPr>
              <a:t>85.8s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470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Slowest Lap
Norris — Lap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00"/>
                </a:solidFill>
                <a:latin typeface="Calibri"/>
              </a:rPr>
              <a:t>418.3s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Winning Total
Hamilton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1887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 w="19050">
            <a:solidFill>
              <a:srgbClr val="4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2984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7F2A"/>
                </a:solidFill>
                <a:latin typeface="Calibri"/>
              </a:rPr>
              <a:t>1.95×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8470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0"/>
                </a:solidFill>
                <a:latin typeface="Calibri"/>
              </a:rPr>
              <a:t>Amdahl Speedup
4-core estimate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2834640"/>
          <a:ext cx="11247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2560320"/>
                <a:gridCol w="256032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Total (sec)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Avg Lap (sec)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CC00"/>
                          </a:solidFill>
                          <a:latin typeface="Calibri"/>
                        </a:rPr>
                        <a:t>Best Lap</a:t>
                      </a:r>
                    </a:p>
                  </a:txBody>
                  <a:tcPr>
                    <a:solidFill>
                      <a:srgbClr val="1E28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1 🥇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Hamilton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418.3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83.6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82.9 ★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Leclerc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418.7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83.7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83.1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Verstappen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424.3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84.8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84.4</a:t>
                      </a:r>
                    </a:p>
                  </a:txBody>
                  <a:tcPr>
                    <a:solidFill>
                      <a:srgbClr val="161B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Norris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426.0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85.2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0B8D0"/>
                          </a:solidFill>
                          <a:latin typeface="Calibri"/>
                        </a:rPr>
                        <a:t>84.5</a:t>
                      </a:r>
                    </a:p>
                  </a:txBody>
                  <a:tcPr>
                    <a:solidFill>
                      <a:srgbClr val="13192A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11612880" cy="63093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4572000" cy="54864"/>
          </a:xfrm>
          <a:prstGeom prst="rect">
            <a:avLst/>
          </a:prstGeom>
          <a:solidFill>
            <a:srgbClr val="E8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394960" cy="30175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Calibri"/>
              </a:rPr>
              <a:t>What Worked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029200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Full 11-procedure MIPS program running cleanly in MARS 4.5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Row-major 2D array with correct offset addressing throughout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Selection sort on index array avoids moving large data blocks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All procedures follow $sp/$ra stack convention — no register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5577840" cy="301752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2A"/>
                </a:solidFill>
                <a:latin typeface="Calibri"/>
              </a:rPr>
              <a:t>Future Extensions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212079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Would add floating-point display using MIPS co-processor FP regs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Could replace hard-coded data with interactive MARS console input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Parallel version: assign each driver's totals to a separate 'core'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Add lap delta reporting (difference from fastest lap per driver)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1247120" cy="1920240"/>
          </a:xfrm>
          <a:prstGeom prst="roundRect">
            <a:avLst>
              <a:gd name="adj" fmla="val 5000"/>
            </a:avLst>
          </a:prstGeom>
          <a:solidFill>
            <a:srgbClr val="16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C00"/>
                </a:solidFill>
                <a:latin typeface="Calibri"/>
              </a:rPr>
              <a:t>Key Lessons Learned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8813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Memory layout decisions directly impact cache hit rate — row vs. column major matters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Every procedure call has measurable overhead — ~7–25% of instructions are stack management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B0B8D0"/>
                </a:solidFill>
                <a:latin typeface="Calibri"/>
              </a:rPr>
              <a:t>•  MIPS calling convention is a concrete implementation of the Week 7 ABI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